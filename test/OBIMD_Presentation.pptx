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8D2A"/>
                </a:solidFill>
              </a:defRPr>
            </a:pPr>
            <a:r>
              <a:t>OBIMD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 Multi-modal Dataset for Contextual Interpretation</a:t>
            </a:r>
            <a:br/>
            <a:r>
              <a:t>of Oracle Bone Inscriptions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</a:defRPr>
            </a:pPr>
            <a:r>
              <a:t>갑골문 해석을 위한 대규모 멀티모달 데이터셋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Bang Li, Jing Yang, Yujie Liang, Xiaobin Hu, Zengmao Ding, Xu Peng,</a:t>
            </a:r>
            <a:br/>
            <a:r>
              <a:t>Shengwei Han, Peichao Qin, Donghao Luo, Taisong Jin, Feng Gao, Yongge Liu, Rongrong Ji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</a:defRPr>
            </a:pPr>
            <a:r>
              <a:t>Anyang Normal University  ·  Xiamen University  ·  Tencent Youtu Lab  ·  University of Cambridge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Scientific Data (2026)  |  DOI: 10.1038/s41597-026-06967-0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연구 배경 및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5B3E"/>
                </a:solidFill>
              </a:defRPr>
            </a:pPr>
            <a:r>
              <a:t>기존 데이터셋의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기존 갑골문 데이터셋은 개별 문자 단위에 국한</a:t>
            </a:r>
            <a:br/>
            <a:r>
              <a:t>문맥적·구조적 정보 부재로 종합 분석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5B3E"/>
                </a:solidFill>
              </a:defRPr>
            </a:pPr>
            <a:r>
              <a:t>단일 모달리티 한정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탁본(Rubbing) 또는 모사본(Facsimile) 중</a:t>
            </a:r>
            <a:br/>
            <a:r>
              <a:t>하나의 모달리티만 제공 → 교차 검증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30352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5B3E"/>
                </a:solidFill>
              </a:defRPr>
            </a:pPr>
            <a:r>
              <a:t>전문가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갑골문 해독 전문가가 극소수</a:t>
            </a:r>
            <a:br/>
            <a:r>
              <a:t>대규모 수동 주석 작업은 시간·비용 면에서 비현실적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5B3E"/>
                </a:solidFill>
              </a:defRPr>
            </a:pPr>
            <a:r>
              <a:t>비선형 읽기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갑골문은 현대 텍스트와 달리 비선형적 읽기 경로</a:t>
            </a:r>
            <a:br/>
            <a:r>
              <a:t>문장 구조 복원이 매우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연구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9728" cy="6400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멀티모달 통합: 탁본·모사본·전사(轉寫)를 픽셀 정렬하여 하나의 통합 데이터셋으로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09728" cy="6400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문맥 정보 제공: 문자 단위 주석 + 문장 단위 그룹핑 + 읽기 순서까지 포함한 다층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109728" cy="6400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결손 위치 기록: 파손으로 인한 누락 문자 위치를 플레이스홀더로 명시적 표기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09728" cy="6400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AI 연구 기반 조성: 문자 인식, 모사본 개선, 구문 복원 등 다양한 태스크 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86400"/>
            <a:ext cx="109728" cy="6400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협업 주석 파이프라인: 비전문가 → 대학원생 → 전문가의 3단계 검증 체계로 확장성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OBIMD 데이터셋 규모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10,077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갑골문 이미지</a:t>
            </a:r>
            <a:br/>
            <a:r>
              <a:t>(탁본 + 모사본 쌍)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93,652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주석된 문자</a:t>
            </a:r>
            <a:br/>
            <a:r>
              <a:t>(바운딩 박스 + 카테고리)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21,667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결손 문자 위치</a:t>
            </a:r>
            <a:br/>
            <a:r>
              <a:t>(플레이스홀더)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21,941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문장 단위</a:t>
            </a:r>
            <a:br/>
            <a:r>
              <a:t>(구문 검증 완료)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02336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4,192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1206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비문장 요소</a:t>
            </a:r>
            <a:br/>
            <a:r>
              <a:t>(점서 순서·결과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02336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1,730 / 2,747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1206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주 카테고리 /</a:t>
            </a:r>
            <a:br/>
            <a:r>
              <a:t>부 카테고리 문자 클래스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연구 방법: 3단계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1097280"/>
          </a:xfrm>
          <a:prstGeom prst="rect">
            <a:avLst/>
          </a:prstGeom>
          <a:solidFill>
            <a:srgbClr val="D45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① 데이터 수집</a:t>
            </a:r>
            <a:br/>
            <a:r>
              <a:t>Data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'殷契文淵' 디지털 저장소에서 탁본 수집</a:t>
            </a:r>
            <a:br/>
            <a:r>
              <a:t>• '甲骨文合集' 9,913점 + 花園莊東 164점</a:t>
            </a:r>
            <a:br/>
            <a:r>
              <a:t>• 모사본은 탁본과 일치하도록 재작화</a:t>
            </a:r>
            <a:br/>
            <a:r>
              <a:t>• 전사 참조 자료 연동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47472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② 사전 주석</a:t>
            </a:r>
            <a:br/>
            <a:r>
              <a:t>Pre-Annotation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YOLO 기반 문자 영역 검출 (탁본·모사본)</a:t>
            </a:r>
            <a:br/>
            <a:r>
              <a:t>• Hungarian 알고리즘으로 교차 모달 매칭</a:t>
            </a:r>
            <a:br/>
            <a:r>
              <a:t>• 문자 라이브러리 대조 Top-k 후보 생성</a:t>
            </a:r>
            <a:br/>
            <a:r>
              <a:t>• 바운딩 박스 + 신뢰도 점수 출력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47472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③ 협업 주석 및 검증</a:t>
            </a:r>
            <a:br/>
            <a:r>
              <a:t>Collaborative Annotation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웹 기반 주석 플랫폼 구축</a:t>
            </a:r>
            <a:br/>
            <a:r>
              <a:t>• 비전문가 → 대학원생 → 전문가 3단계</a:t>
            </a:r>
            <a:br/>
            <a:r>
              <a:t>• 삼중 뷰 정렬(탁본·모사본·전사) 검증</a:t>
            </a:r>
            <a:br/>
            <a:r>
              <a:t>• 수동 대비 60배 생산성 향상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주석 구조: 3계층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D45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5029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5B3E"/>
                </a:solidFill>
              </a:defRPr>
            </a:pPr>
            <a:r>
              <a:t>이미지 레벨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Facsimile / Rubbing 경로</a:t>
            </a:r>
            <a:br/>
            <a:r>
              <a:t>RubbingName (고유 식별자)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3716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108960"/>
            <a:ext cx="5029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</a:defRPr>
            </a:pPr>
            <a:r>
              <a:t>문장 레벨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GroupCategory: InscriptionSentence,</a:t>
            </a:r>
            <a:br/>
            <a:r>
              <a:t>OracleSequence, OracleOutcome, Uncertain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37160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5029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문자 레벨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Position (x, y, w, h) · OrderNumber</a:t>
            </a:r>
            <a:br/>
            <a:r>
              <a:t>Label / SubLabel (2단계 분류)</a:t>
            </a:r>
            <a:br/>
            <a:r>
              <a:t>SeatFont (플레이스홀더) · Mark (특수 표기)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8D2A"/>
                </a:solidFill>
              </a:defRPr>
            </a:pPr>
            <a:r>
              <a:t>Mark 필드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-1: 일반 문자 (기본값)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 0: 전문가도 판별 불가한 훼손 문자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 1: 분류 합의 없는 논쟁 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 2: 탁본에서만 확인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 3: 모사본에서만 확인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D2A"/>
                </a:solidFill>
              </a:defRPr>
            </a:pPr>
            <a:r>
              <a:t>총 바운딩 박스: 115,319개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(문자 93,652 + 플레이스홀더 21,667)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기존 데이터셋과의 비교 (Table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01168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280160"/>
            <a:ext cx="164592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2984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주석 단위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109728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2984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80160"/>
            <a:ext cx="73152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2984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182880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98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Full Imgs (R/F)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280160"/>
            <a:ext cx="182880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298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Crops (R/F)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280160"/>
            <a:ext cx="1645920" cy="4572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2984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#Class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83080"/>
            <a:ext cx="20116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801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OBC306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83080"/>
            <a:ext cx="1645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1801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Char: Cls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783080"/>
            <a:ext cx="10972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8013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Rec.(Rub)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783080"/>
            <a:ext cx="7315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18013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2019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783080"/>
            <a:ext cx="1828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1783080"/>
            <a:ext cx="1828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309,551 /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783080"/>
            <a:ext cx="1645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801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3042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Oracle-MNIST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286000"/>
            <a:ext cx="16459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23042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Char: Cls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2286000"/>
            <a:ext cx="1097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2304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Rec.(Rub)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2286000"/>
            <a:ext cx="731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23042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2024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286000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2286000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30,222 /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2286000"/>
            <a:ext cx="16459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23042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788920"/>
            <a:ext cx="20116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28072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HWOBC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788920"/>
            <a:ext cx="1645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2807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Char: Cls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788920"/>
            <a:ext cx="10972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80720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Rec.(Fac)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2788920"/>
            <a:ext cx="7315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28072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2020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2788920"/>
            <a:ext cx="1828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28072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2788920"/>
            <a:ext cx="1828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28072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83,251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2788920"/>
            <a:ext cx="1645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807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3,881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291840"/>
            <a:ext cx="20116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3310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HUST-OBC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3291840"/>
            <a:ext cx="16459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0320" y="33101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Char: Cls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06240" y="3291840"/>
            <a:ext cx="1097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0" y="33101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Rec.(Fac)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0" y="3291840"/>
            <a:ext cx="7315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33101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2024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3291840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35040" y="33101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3840" y="3291840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0" y="33101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77,064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92640" y="3291840"/>
            <a:ext cx="16459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0" y="33101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1,588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3794760"/>
            <a:ext cx="20116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813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OBI det.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3794760"/>
            <a:ext cx="1645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0320" y="3813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Char: Box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06240" y="3794760"/>
            <a:ext cx="10972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06240" y="38130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Det.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3794760"/>
            <a:ext cx="7315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0" y="38130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2020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35040" y="3794760"/>
            <a:ext cx="1828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35040" y="3813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9,306 / 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63840" y="3794760"/>
            <a:ext cx="1828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40" y="3813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 / 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92640" y="3794760"/>
            <a:ext cx="1645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92640" y="3813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N/A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4297680"/>
            <a:ext cx="201168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4315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OBIMD (Ours)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60320" y="4297680"/>
            <a:ext cx="164592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560320" y="43159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Multi-level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06240" y="4297680"/>
            <a:ext cx="109728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06240" y="43159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Det.;Rec.;Struct.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303520" y="4297680"/>
            <a:ext cx="73152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0" y="43159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2024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35040" y="4297680"/>
            <a:ext cx="182880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35040" y="4315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10,077 / 10,077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63840" y="4297680"/>
            <a:ext cx="182880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63840" y="4315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93,652 / 93,652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92640" y="4297680"/>
            <a:ext cx="1645920" cy="45720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92640" y="43159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1,730+2,747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D2A"/>
                </a:solidFill>
              </a:defRPr>
            </a:pPr>
            <a:r>
              <a:t>OBIMD는 유일하게 멀티모달(탁본+모사본) 전체 이미지 쌍을 제공하며,</a:t>
            </a:r>
            <a:br/>
            <a:r>
              <a:t>문자 검출·인식·구조 분석을 동시에 지원하는 최초의 종합 데이터셋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기술 검증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D45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  Task 1: 문자 검출 및 인식 (YOLOv11l)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645920" cy="3657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Subtask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11680"/>
            <a:ext cx="914400" cy="3657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mAP@50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011680"/>
            <a:ext cx="914400" cy="3657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914400" cy="3657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011680"/>
            <a:ext cx="914400" cy="3657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8D2A"/>
                </a:solidFill>
              </a:defRPr>
            </a:pPr>
            <a: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Rubbing (Main)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0.5141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0.6386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0.4271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Rubbing (Sub)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0.4284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0.5627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0.3739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0.4493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Facsimile (Main)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0.6700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0.6473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0.6134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0.6395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Facsimile (Sub)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0.5853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0.6148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0.5245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0.5630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371600"/>
            <a:ext cx="54864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  Task 2: 문장 수준 문자 클러스터링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Main Chars — AMI: 0.54  NMI: 0.60  ARI: 0.53  Purity: 0.84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Sub Chars  — AMI: 0.51  NMI: 0.53  ARI: 0.50  Purity: 0.79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00400"/>
            <a:ext cx="548640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  Task 3: 문자 재배열 (읽기 순서 복원)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Main Chars — Top-1: 75.35%  Top-3: 91.57%  ADE: 0.497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Sub Chars  — Top-1: 72.78%  Top-3: 90.35%  ADE: 0.526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8D2A"/>
                </a:solidFill>
              </a:defRPr>
            </a:pPr>
            <a:r>
              <a:t>핵심 발견: 모사본이 탁본보다 인식 성능 우수 (명확한 윤곽) | 주 문자가 부 문자보다 안정적</a:t>
            </a:r>
            <a:br/>
            <a:r>
              <a:t>→ OBIMD는 모델 학습뿐 아니라 고대 문자 인식의 도전적 벤치마크 역할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8D2A"/>
                </a:solidFill>
              </a:defRPr>
            </a:pPr>
            <a:r>
              <a:t>연구 의의 및 활용 가능성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solidFill>
            <a:srgbClr val="D45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최초의 종합적 멀티모달 갑골문 데이터셋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시각·구조·언어 모달리티를 통합한 유일한 대규모 공개 코퍼스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다양한 AI 태스크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문자 검출/인식, 모사본 개선, 문자 검색, 구문 복원 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478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확장 가능한 협업 프레임워크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전문가 부족 문제를 3단계 검증 체계로 해결, 60배 생산성 향상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상 왕조 5기 전체 포괄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시대별 문자 변천 연구 및 통시적 분석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548640" cy="5486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595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완전 공개 데이터셋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97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HuggingFace에서 자유롭게 접근 가능 (CC BY-NC-ND 4.0)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8D2A"/>
                </a:solidFill>
              </a:defRPr>
            </a:pPr>
            <a:r>
              <a:t>데이터셋 및 코드 접근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26080"/>
            <a:ext cx="75895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0632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8D2A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3832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</a:defRPr>
            </a:pPr>
            <a:r>
              <a:t>https://huggingface.co/datasets/KLOBIP/OBIMD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114800"/>
            <a:ext cx="75895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2519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8D2A"/>
                </a:solidFill>
              </a:defRPr>
            </a:pPr>
            <a: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5720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</a:defRPr>
            </a:pPr>
            <a:r>
              <a:t>https://github.com/libang1991/OBIMD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03520"/>
            <a:ext cx="75895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44068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8D2A"/>
                </a:solidFill>
              </a:defRPr>
            </a:pPr>
            <a:r>
              <a:t>Annotation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7607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</a:defRPr>
            </a:pPr>
            <a:r>
              <a:t>https://www.jgwlbq.org.cn/oracle-bone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